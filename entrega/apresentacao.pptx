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533400"/>
            <a:ext cx="1016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100">
                <a:solidFill>
                  <a:srgbClr val="7FB8DD"/>
                </a:solidFill>
                <a:latin typeface="Arial"/>
              </a:rPr>
              <a:t>INF01006 · PROJETO DE BANCO DE DADOS · UFRGS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12800"/>
            <a:ext cx="10414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b="1" sz="4600">
                <a:solidFill>
                  <a:srgbClr val="FFFFFF"/>
                </a:solidFill>
                <a:latin typeface="Arial"/>
              </a:rPr>
              <a:t>Gasto x Desempenho</a:t>
            </a:r>
          </a:p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b="1" sz="4600">
                <a:solidFill>
                  <a:srgbClr val="FFFFFF"/>
                </a:solidFill>
                <a:latin typeface="Arial"/>
              </a:rPr>
              <a:t>na Atenção Primária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4200" y="2489200"/>
            <a:ext cx="1219200" cy="50800"/>
          </a:xfrm>
          <a:prstGeom prst="rect">
            <a:avLst/>
          </a:prstGeom>
          <a:solidFill>
            <a:srgbClr val="4DA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4200" y="2717800"/>
            <a:ext cx="8382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b="0" sz="1700">
                <a:solidFill>
                  <a:srgbClr val="A9C4D8"/>
                </a:solidFill>
                <a:latin typeface="Arial"/>
              </a:rPr>
              <a:t>Integração do gasto público municipal em Atenção Básica com os indicadores de desempenho da Atenção Primária do Ministério da Saúde.</a:t>
            </a:r>
          </a:p>
          <a:p>
            <a:pPr algn="l">
              <a:lnSpc>
                <a:spcPct val="134000"/>
              </a:lnSpc>
              <a:spcBef>
                <a:spcPts val="0"/>
              </a:spcBef>
            </a:pPr>
            <a:r>
              <a:rPr b="0" sz="1700">
                <a:solidFill>
                  <a:srgbClr val="A9C4D8"/>
                </a:solidFill>
                <a:latin typeface="Arial"/>
              </a:rPr>
              <a:t>497 municípios do Rio Grande do Sul · 2020–2024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5740400"/>
            <a:ext cx="533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000">
                <a:solidFill>
                  <a:srgbClr val="7FB8DD"/>
                </a:solidFill>
                <a:latin typeface="Arial"/>
              </a:rPr>
              <a:t>INTEGRANTES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9690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0" sz="1600">
                <a:solidFill>
                  <a:srgbClr val="FFFFFF"/>
                </a:solidFill>
                <a:latin typeface="Arial"/>
              </a:rPr>
              <a:t>Vinícius Witt Herzog · Pedro Rocha · Eduardo Rosa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5740400"/>
            <a:ext cx="533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000">
                <a:solidFill>
                  <a:srgbClr val="7FB8DD"/>
                </a:solidFill>
                <a:latin typeface="Arial"/>
              </a:rPr>
              <a:t>COOPERAÇÃO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59690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0" sz="1600">
                <a:solidFill>
                  <a:srgbClr val="FFFFFF"/>
                </a:solidFill>
                <a:latin typeface="Arial"/>
              </a:rPr>
              <a:t>Extensão PET-Saúde Digital — GAT05 Indicadores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508000"/>
            <a:ext cx="1016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100">
                <a:solidFill>
                  <a:srgbClr val="0F5C8C"/>
                </a:solidFill>
                <a:latin typeface="Arial"/>
              </a:rPr>
              <a:t>RESUMO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736600"/>
            <a:ext cx="1117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2900">
                <a:solidFill>
                  <a:srgbClr val="16202B"/>
                </a:solidFill>
                <a:latin typeface="Arial"/>
              </a:rPr>
              <a:t>Objetivo geral e objetivos específicos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4200" y="1346200"/>
            <a:ext cx="1219200" cy="50800"/>
          </a:xfrm>
          <a:prstGeom prst="rect">
            <a:avLst/>
          </a:prstGeom>
          <a:solidFill>
            <a:srgbClr val="0F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1574800"/>
            <a:ext cx="10922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b="1" sz="1500">
                <a:solidFill>
                  <a:srgbClr val="16202B"/>
                </a:solidFill>
                <a:latin typeface="Arial"/>
              </a:rPr>
              <a:t>Objetivo geral.</a:t>
            </a:r>
            <a:r>
              <a:rPr b="0" sz="1500">
                <a:solidFill>
                  <a:srgbClr val="16202B"/>
                </a:solidFill>
                <a:latin typeface="Arial"/>
              </a:rPr>
              <a:t> Integrar, numa única base de dados, quanto cada município gasta em Atenção Básica e como esse município é avaliado nos indicadores da Atenção Primária. A pergunta é se investir mais por habitante se traduz em melhor desempenho, e quanto da variação observada vem do serviço prestado ou da regra de cálculo.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2565400"/>
            <a:ext cx="508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350">
                <a:solidFill>
                  <a:srgbClr val="16202B"/>
                </a:solidFill>
                <a:latin typeface="Arial"/>
              </a:rPr>
              <a:t>Objetivos específicos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870200"/>
            <a:ext cx="53467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b="1" sz="1300">
                <a:solidFill>
                  <a:srgbClr val="16202B"/>
                </a:solidFill>
                <a:latin typeface="Arial"/>
              </a:rPr>
              <a:t>1.</a:t>
            </a:r>
            <a:r>
              <a:rPr b="0" sz="1300">
                <a:solidFill>
                  <a:srgbClr val="16202B"/>
                </a:solidFill>
                <a:latin typeface="Arial"/>
              </a:rPr>
              <a:t> Modelar e implementar um esquema relacional que integre as diferentes fontes, resolvendo chaves e granularidades incompatíveis.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</a:pPr>
            <a:r>
              <a:rPr b="1" sz="1300">
                <a:solidFill>
                  <a:srgbClr val="16202B"/>
                </a:solidFill>
                <a:latin typeface="Arial"/>
              </a:rPr>
              <a:t>2.</a:t>
            </a:r>
            <a:r>
              <a:rPr b="0" sz="1300">
                <a:solidFill>
                  <a:srgbClr val="16202B"/>
                </a:solidFill>
                <a:latin typeface="Arial"/>
              </a:rPr>
              <a:t> Construir a dimensão versionada a partir das Notas Técnicas do Ministério da Saúde.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</a:pPr>
            <a:r>
              <a:rPr b="1" sz="1300">
                <a:solidFill>
                  <a:srgbClr val="16202B"/>
                </a:solidFill>
                <a:latin typeface="Arial"/>
              </a:rPr>
              <a:t>3.</a:t>
            </a:r>
            <a:r>
              <a:rPr b="0" sz="1300">
                <a:solidFill>
                  <a:srgbClr val="16202B"/>
                </a:solidFill>
                <a:latin typeface="Arial"/>
              </a:rPr>
              <a:t> Quantificar, por faixas de investimento, a associação entre gasto per capita em Atenção Básica e desempenho nos sete indicadores.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1100" y="2870200"/>
            <a:ext cx="53467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b="1" sz="1300">
                <a:solidFill>
                  <a:srgbClr val="16202B"/>
                </a:solidFill>
                <a:latin typeface="Arial"/>
              </a:rPr>
              <a:t>4.</a:t>
            </a:r>
            <a:r>
              <a:rPr b="0" sz="1300">
                <a:solidFill>
                  <a:srgbClr val="16202B"/>
                </a:solidFill>
                <a:latin typeface="Arial"/>
              </a:rPr>
              <a:t> Separar, na variação da série, o desempenho real do efeito da mudança de regra: a troca de Nota Técnica e a escolha entre os denominadores concorrentes.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</a:pPr>
            <a:r>
              <a:rPr b="1" sz="1300">
                <a:solidFill>
                  <a:srgbClr val="16202B"/>
                </a:solidFill>
                <a:latin typeface="Arial"/>
              </a:rPr>
              <a:t>5.</a:t>
            </a:r>
            <a:r>
              <a:rPr b="0" sz="1300">
                <a:solidFill>
                  <a:srgbClr val="16202B"/>
                </a:solidFill>
                <a:latin typeface="Arial"/>
              </a:rPr>
              <a:t> Documentar a completude e a qualidade dos dados, produzindo uma base confiável e de fácil entendimento para as análises desenvolvidas.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1100" y="4826000"/>
            <a:ext cx="5346700" cy="9398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1100" y="4826000"/>
            <a:ext cx="63500" cy="939800"/>
          </a:xfrm>
          <a:prstGeom prst="rect">
            <a:avLst/>
          </a:prstGeom>
          <a:solidFill>
            <a:srgbClr val="0F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9700" y="4978400"/>
            <a:ext cx="49403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b="0" sz="1300">
                <a:solidFill>
                  <a:srgbClr val="16202B"/>
                </a:solidFill>
                <a:latin typeface="Arial"/>
              </a:rPr>
              <a:t>A subfunção 10.301 reúne recurso próprio, federal e estadual, e o pagamento por desempenho corresponde a apenas parte do repasse federal. A relação investigada é de </a:t>
            </a:r>
            <a:r>
              <a:rPr b="1" sz="1300">
                <a:solidFill>
                  <a:srgbClr val="16202B"/>
                </a:solidFill>
                <a:latin typeface="Arial"/>
              </a:rPr>
              <a:t>associação, não de causalidade</a:t>
            </a:r>
            <a:r>
              <a:rPr b="0" sz="1300">
                <a:solidFill>
                  <a:srgbClr val="16202B"/>
                </a:solidFill>
                <a:latin typeface="Arial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4200" y="6350000"/>
            <a:ext cx="11023600" cy="9525"/>
          </a:xfrm>
          <a:prstGeom prst="rect">
            <a:avLst/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4200" y="6426200"/>
            <a:ext cx="635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0" sz="1000">
                <a:solidFill>
                  <a:srgbClr val="8A9AA8"/>
                </a:solidFill>
                <a:latin typeface="Arial"/>
              </a:rPr>
              <a:t>Gasto x Desempenho na Atenção Primária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426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b="0" sz="1000">
                <a:solidFill>
                  <a:srgbClr val="8A9AA8"/>
                </a:solidFill>
                <a:latin typeface="Arial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508000"/>
            <a:ext cx="1016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100">
                <a:solidFill>
                  <a:srgbClr val="0F5C8C"/>
                </a:solidFill>
                <a:latin typeface="Arial"/>
              </a:rPr>
              <a:t>BASE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736600"/>
            <a:ext cx="1117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2900">
                <a:solidFill>
                  <a:srgbClr val="16202B"/>
                </a:solidFill>
                <a:latin typeface="Arial"/>
              </a:rPr>
              <a:t>Três fontes oficiais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4200" y="1346200"/>
            <a:ext cx="1219200" cy="50800"/>
          </a:xfrm>
          <a:prstGeom prst="rect">
            <a:avLst/>
          </a:prstGeom>
          <a:solidFill>
            <a:srgbClr val="0F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4200" y="1625600"/>
            <a:ext cx="3539066" cy="226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4200" y="1625600"/>
            <a:ext cx="3539066" cy="63500"/>
          </a:xfrm>
          <a:prstGeom prst="rect">
            <a:avLst/>
          </a:prstGeom>
          <a:solidFill>
            <a:srgbClr val="0F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828800"/>
            <a:ext cx="308186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900">
                <a:solidFill>
                  <a:srgbClr val="16202B"/>
                </a:solidFill>
                <a:latin typeface="Arial"/>
              </a:rPr>
              <a:t>FINBRA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133600"/>
            <a:ext cx="308186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0" sz="1100">
                <a:solidFill>
                  <a:srgbClr val="8A9AA8"/>
                </a:solidFill>
                <a:latin typeface="Arial"/>
              </a:rPr>
              <a:t>Tesouro Nacional · SICONFI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413000"/>
            <a:ext cx="3081866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300">
                <a:solidFill>
                  <a:srgbClr val="16202B"/>
                </a:solidFill>
                <a:latin typeface="Arial"/>
              </a:rPr>
              <a:t>O gasto.</a:t>
            </a:r>
            <a:r>
              <a:rPr b="0" sz="1300">
                <a:solidFill>
                  <a:srgbClr val="16202B"/>
                </a:solidFill>
                <a:latin typeface="Arial"/>
              </a:rPr>
              <a:t> Despesa por função, subfunção 10.301 — Atenção Básica, declarada anualmente por cada município.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276600"/>
            <a:ext cx="308186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2200">
                <a:solidFill>
                  <a:srgbClr val="0F5C8C"/>
                </a:solidFill>
                <a:latin typeface="Arial"/>
              </a:rPr>
              <a:t>651.198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581400"/>
            <a:ext cx="308186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0" sz="1100">
                <a:solidFill>
                  <a:srgbClr val="8A9AA8"/>
                </a:solidFill>
                <a:latin typeface="Arial"/>
              </a:rPr>
              <a:t>linhas · 2020–2025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6466" y="1625600"/>
            <a:ext cx="3539066" cy="226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6466" y="1625600"/>
            <a:ext cx="3539066" cy="63500"/>
          </a:xfrm>
          <a:prstGeom prst="rect">
            <a:avLst/>
          </a:prstGeom>
          <a:solidFill>
            <a:srgbClr val="0F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0466" y="1828800"/>
            <a:ext cx="308186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900">
                <a:solidFill>
                  <a:srgbClr val="16202B"/>
                </a:solidFill>
                <a:latin typeface="Arial"/>
              </a:rPr>
              <a:t>SISAB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0466" y="2133600"/>
            <a:ext cx="308186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0" sz="1100">
                <a:solidFill>
                  <a:srgbClr val="8A9AA8"/>
                </a:solidFill>
                <a:latin typeface="Arial"/>
              </a:rPr>
              <a:t>Ministério da Saúde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0466" y="2413000"/>
            <a:ext cx="3081866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300">
                <a:solidFill>
                  <a:srgbClr val="16202B"/>
                </a:solidFill>
                <a:latin typeface="Arial"/>
              </a:rPr>
              <a:t>Os indicadores.</a:t>
            </a:r>
            <a:r>
              <a:rPr b="0" sz="1300">
                <a:solidFill>
                  <a:srgbClr val="16202B"/>
                </a:solidFill>
                <a:latin typeface="Arial"/>
              </a:rPr>
              <a:t> Série histórica completa, por município e quadrimestre, um relatório por indicador.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0466" y="3276600"/>
            <a:ext cx="308186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2200">
                <a:solidFill>
                  <a:srgbClr val="0F5C8C"/>
                </a:solidFill>
                <a:latin typeface="Arial"/>
              </a:rPr>
              <a:t>76.538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0466" y="3581400"/>
            <a:ext cx="308186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0" sz="1100">
                <a:solidFill>
                  <a:srgbClr val="8A9AA8"/>
                </a:solidFill>
                <a:latin typeface="Arial"/>
              </a:rPr>
              <a:t>linhas · 2018–2025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8733" y="1625600"/>
            <a:ext cx="3539066" cy="226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8733" y="1625600"/>
            <a:ext cx="3539066" cy="63500"/>
          </a:xfrm>
          <a:prstGeom prst="rect">
            <a:avLst/>
          </a:prstGeom>
          <a:solidFill>
            <a:srgbClr val="0F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2733" y="1828800"/>
            <a:ext cx="308186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900">
                <a:solidFill>
                  <a:srgbClr val="16202B"/>
                </a:solidFill>
                <a:latin typeface="Arial"/>
              </a:rPr>
              <a:t>API DEMAS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2733" y="2133600"/>
            <a:ext cx="308186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0" sz="1100">
                <a:solidFill>
                  <a:srgbClr val="8A9AA8"/>
                </a:solidFill>
                <a:latin typeface="Arial"/>
              </a:rPr>
              <a:t>Ministério da Saúde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2733" y="2413000"/>
            <a:ext cx="3081866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300">
                <a:solidFill>
                  <a:srgbClr val="16202B"/>
                </a:solidFill>
                <a:latin typeface="Arial"/>
              </a:rPr>
              <a:t>Numerador e os três denominadores.</a:t>
            </a:r>
            <a:r>
              <a:rPr b="0" sz="1300">
                <a:solidFill>
                  <a:srgbClr val="16202B"/>
                </a:solidFill>
                <a:latin typeface="Arial"/>
              </a:rPr>
              <a:t> Única fonte com o cálculo aberto; cobre apenas 2024.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2733" y="3276600"/>
            <a:ext cx="308186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2200">
                <a:solidFill>
                  <a:srgbClr val="0F5C8C"/>
                </a:solidFill>
                <a:latin typeface="Arial"/>
              </a:rPr>
              <a:t>26.838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2733" y="3581400"/>
            <a:ext cx="308186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0" sz="1100">
                <a:solidFill>
                  <a:srgbClr val="8A9AA8"/>
                </a:solidFill>
                <a:latin typeface="Arial"/>
              </a:rPr>
              <a:t>linhas · 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4140200"/>
            <a:ext cx="11023600" cy="9398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4200" y="4140200"/>
            <a:ext cx="63500" cy="939800"/>
          </a:xfrm>
          <a:prstGeom prst="rect">
            <a:avLst/>
          </a:prstGeom>
          <a:solidFill>
            <a:srgbClr val="0F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4292600"/>
            <a:ext cx="10617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b="0" sz="1400">
                <a:solidFill>
                  <a:srgbClr val="16202B"/>
                </a:solidFill>
                <a:latin typeface="Arial"/>
              </a:rPr>
              <a:t>A junção é feita por </a:t>
            </a:r>
            <a:r>
              <a:rPr b="1" sz="1400">
                <a:solidFill>
                  <a:srgbClr val="16202B"/>
                </a:solidFill>
                <a:latin typeface="Arial"/>
              </a:rPr>
              <a:t>cod_ibge7 / 10</a:t>
            </a:r>
            <a:r>
              <a:rPr b="0" sz="1400">
                <a:solidFill>
                  <a:srgbClr val="16202B"/>
                </a:solidFill>
                <a:latin typeface="Arial"/>
              </a:rPr>
              <a:t>: o FINBRA usa código IBGE de sete dígitos; SISAB e API, de seis. Testada nos 497 municípios do estado, que somam 754.574 linhas carregadas.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4200" y="6350000"/>
            <a:ext cx="11023600" cy="9525"/>
          </a:xfrm>
          <a:prstGeom prst="rect">
            <a:avLst/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4200" y="6426200"/>
            <a:ext cx="635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0" sz="1000">
                <a:solidFill>
                  <a:srgbClr val="8A9AA8"/>
                </a:solidFill>
                <a:latin typeface="Arial"/>
              </a:rPr>
              <a:t>Gasto x Desempenho na Atenção Primária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426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b="0" sz="1000">
                <a:solidFill>
                  <a:srgbClr val="8A9AA8"/>
                </a:solidFill>
                <a:latin typeface="Arial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508000"/>
            <a:ext cx="1016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100">
                <a:solidFill>
                  <a:srgbClr val="0F5C8C"/>
                </a:solidFill>
                <a:latin typeface="Arial"/>
              </a:rPr>
              <a:t>MODELO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736600"/>
            <a:ext cx="1117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2900">
                <a:solidFill>
                  <a:srgbClr val="16202B"/>
                </a:solidFill>
                <a:latin typeface="Arial"/>
              </a:rPr>
              <a:t>A definição do indicador vira uma dimensão versionada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84200" y="1346200"/>
            <a:ext cx="1219200" cy="50800"/>
          </a:xfrm>
          <a:prstGeom prst="rect">
            <a:avLst/>
          </a:prstGeom>
          <a:solidFill>
            <a:srgbClr val="0F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4200" y="1625600"/>
            <a:ext cx="209296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1752600"/>
            <a:ext cx="181356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300">
                <a:solidFill>
                  <a:srgbClr val="0F5C8C"/>
                </a:solidFill>
                <a:latin typeface="Consolas"/>
              </a:rPr>
              <a:t>dim_municipio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006600"/>
            <a:ext cx="181356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050">
                <a:solidFill>
                  <a:srgbClr val="5B6D80"/>
                </a:solidFill>
                <a:latin typeface="Arial"/>
              </a:rPr>
              <a:t>cod_ibge6 · cod_ibge7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b="0" sz="1050">
                <a:solidFill>
                  <a:srgbClr val="5B6D80"/>
                </a:solidFill>
                <a:latin typeface="Arial"/>
              </a:rPr>
              <a:t>nome · uf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6860" y="1625600"/>
            <a:ext cx="209296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9260" y="1752600"/>
            <a:ext cx="181356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300">
                <a:solidFill>
                  <a:srgbClr val="0F5C8C"/>
                </a:solidFill>
                <a:latin typeface="Consolas"/>
              </a:rPr>
              <a:t>dim_periodo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9260" y="2006600"/>
            <a:ext cx="181356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050">
                <a:solidFill>
                  <a:srgbClr val="5B6D80"/>
                </a:solidFill>
                <a:latin typeface="Arial"/>
              </a:rPr>
              <a:t>quadrimestre · ano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b="0" sz="1050">
                <a:solidFill>
                  <a:srgbClr val="5B6D80"/>
                </a:solidFill>
                <a:latin typeface="Arial"/>
              </a:rPr>
              <a:t>competência · regime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9520" y="1625600"/>
            <a:ext cx="2092960" cy="111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B0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01920" y="1752600"/>
            <a:ext cx="181356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300">
                <a:solidFill>
                  <a:srgbClr val="B02A37"/>
                </a:solidFill>
                <a:latin typeface="Consolas"/>
              </a:rPr>
              <a:t>dim_indicador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1920" y="2006600"/>
            <a:ext cx="181356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050">
                <a:solidFill>
                  <a:srgbClr val="5B6D80"/>
                </a:solidFill>
                <a:latin typeface="Arial"/>
              </a:rPr>
              <a:t>código · regime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b="0" sz="1050">
                <a:solidFill>
                  <a:srgbClr val="5B6D80"/>
                </a:solidFill>
                <a:latin typeface="Arial"/>
              </a:rPr>
              <a:t>nome · meta · peso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b="0" sz="1050">
                <a:solidFill>
                  <a:srgbClr val="5B6D80"/>
                </a:solidFill>
                <a:latin typeface="Arial"/>
              </a:rPr>
              <a:t>vigência · nota técnica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2180" y="1625600"/>
            <a:ext cx="209296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580" y="1752600"/>
            <a:ext cx="181356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300">
                <a:solidFill>
                  <a:srgbClr val="0F5C8C"/>
                </a:solidFill>
                <a:latin typeface="Consolas"/>
              </a:rPr>
              <a:t>dim_conta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580" y="2006600"/>
            <a:ext cx="181356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050">
                <a:solidFill>
                  <a:srgbClr val="5B6D80"/>
                </a:solidFill>
                <a:latin typeface="Arial"/>
              </a:rPr>
              <a:t>função · subfunção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b="0" sz="1050">
                <a:solidFill>
                  <a:srgbClr val="5B6D80"/>
                </a:solidFill>
                <a:latin typeface="Arial"/>
              </a:rPr>
              <a:t>nível · residual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14840" y="1625600"/>
            <a:ext cx="209296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67240" y="1752600"/>
            <a:ext cx="181356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050">
                <a:solidFill>
                  <a:srgbClr val="0F5C8C"/>
                </a:solidFill>
                <a:latin typeface="Consolas"/>
              </a:rPr>
              <a:t>populacao_municipio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7240" y="2006600"/>
            <a:ext cx="181356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050">
                <a:solidFill>
                  <a:srgbClr val="5B6D80"/>
                </a:solidFill>
                <a:latin typeface="Arial"/>
              </a:rPr>
              <a:t>ano · fonte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b="0" sz="1050">
                <a:solidFill>
                  <a:srgbClr val="5B6D80"/>
                </a:solidFill>
                <a:latin typeface="Arial"/>
              </a:rPr>
              <a:t>população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2895600"/>
            <a:ext cx="5441950" cy="965200"/>
          </a:xfrm>
          <a:prstGeom prst="rect">
            <a:avLst/>
          </a:prstGeom>
          <a:solidFill>
            <a:srgbClr val="F2F6F9"/>
          </a:solidFill>
          <a:ln w="12700">
            <a:solidFill>
              <a:srgbClr val="0F5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" y="3048000"/>
            <a:ext cx="508635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300">
                <a:solidFill>
                  <a:srgbClr val="0F2F4A"/>
                </a:solidFill>
                <a:latin typeface="Consolas"/>
              </a:rPr>
              <a:t>fato_despesa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327400"/>
            <a:ext cx="50863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b="0" sz="1050">
                <a:solidFill>
                  <a:srgbClr val="5B6D80"/>
                </a:solidFill>
                <a:latin typeface="Arial"/>
              </a:rPr>
              <a:t>município × exercício × estágio × conta → valor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5850" y="2895600"/>
            <a:ext cx="5441950" cy="965200"/>
          </a:xfrm>
          <a:prstGeom prst="rect">
            <a:avLst/>
          </a:prstGeom>
          <a:solidFill>
            <a:srgbClr val="F2F6F9"/>
          </a:solidFill>
          <a:ln w="12700">
            <a:solidFill>
              <a:srgbClr val="0F5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3650" y="3048000"/>
            <a:ext cx="508635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300">
                <a:solidFill>
                  <a:srgbClr val="0F2F4A"/>
                </a:solidFill>
                <a:latin typeface="Consolas"/>
              </a:rPr>
              <a:t>fato_indicador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3650" y="3327400"/>
            <a:ext cx="5086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b="0" sz="1050">
                <a:solidFill>
                  <a:srgbClr val="5B6D80"/>
                </a:solidFill>
                <a:latin typeface="Arial"/>
              </a:rPr>
              <a:t>município × quadrimestre × versão do indicador × visão × fonte</a:t>
            </a:r>
          </a:p>
          <a:p>
            <a:pPr algn="l">
              <a:lnSpc>
                <a:spcPct val="134000"/>
              </a:lnSpc>
              <a:spcBef>
                <a:spcPts val="0"/>
              </a:spcBef>
            </a:pPr>
            <a:r>
              <a:rPr b="0" sz="1050">
                <a:solidFill>
                  <a:srgbClr val="5B6D80"/>
                </a:solidFill>
                <a:latin typeface="Arial"/>
              </a:rPr>
              <a:t>percentual · numerador · den. identificado / estimado / utilizado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4089400"/>
            <a:ext cx="11023600" cy="13716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4200" y="4089400"/>
            <a:ext cx="63500" cy="1371600"/>
          </a:xfrm>
          <a:prstGeom prst="rect">
            <a:avLst/>
          </a:prstGeom>
          <a:solidFill>
            <a:srgbClr val="0F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4241800"/>
            <a:ext cx="106172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b="1" sz="1400">
                <a:solidFill>
                  <a:srgbClr val="16202B"/>
                </a:solidFill>
                <a:latin typeface="Arial"/>
              </a:rPr>
              <a:t>Por que versionar.</a:t>
            </a:r>
            <a:r>
              <a:rPr b="0" sz="1400">
                <a:solidFill>
                  <a:srgbClr val="16202B"/>
                </a:solidFill>
                <a:latin typeface="Arial"/>
              </a:rPr>
              <a:t> A Nota Técnica 05/2020 vigorou até 2021Q3 e foi substituída pela 11/2022 a partir de 2022Q1. A mudança não foi apenas de redação: cinco dos sete indicadores passaram a ter outro nome no painel do SISAB. Tratar a série como contínua arrisca, portanto, comparar medidas diferentes sob o mesmo rótulo. Por isso cada fato aponta para uma versão datada do indicador, e a dim_indicador é montada a partir das próprias Notas Técnicas, já que nenhuma das três fontes publica nome, regra ou meta.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4200" y="6350000"/>
            <a:ext cx="11023600" cy="9525"/>
          </a:xfrm>
          <a:prstGeom prst="rect">
            <a:avLst/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4200" y="6426200"/>
            <a:ext cx="635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0" sz="1000">
                <a:solidFill>
                  <a:srgbClr val="8A9AA8"/>
                </a:solidFill>
                <a:latin typeface="Arial"/>
              </a:rPr>
              <a:t>Gasto x Desempenho na Atenção Primária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426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b="0" sz="1000">
                <a:solidFill>
                  <a:srgbClr val="8A9AA8"/>
                </a:solidFill>
                <a:latin typeface="Arial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508000"/>
            <a:ext cx="1016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100">
                <a:solidFill>
                  <a:srgbClr val="0F5C8C"/>
                </a:solidFill>
                <a:latin typeface="Arial"/>
              </a:rPr>
              <a:t>O DIFERENCIAL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736600"/>
            <a:ext cx="1117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2900">
                <a:solidFill>
                  <a:srgbClr val="16202B"/>
                </a:solidFill>
                <a:latin typeface="Arial"/>
              </a:rPr>
              <a:t>Resultado real ou mudança de régua?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4200" y="1346200"/>
            <a:ext cx="1219200" cy="50800"/>
          </a:xfrm>
          <a:prstGeom prst="rect">
            <a:avLst/>
          </a:prstGeom>
          <a:solidFill>
            <a:srgbClr val="0F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nha_te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574800"/>
            <a:ext cx="11023600" cy="16034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4200" y="3403600"/>
            <a:ext cx="1092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0" sz="1250">
                <a:solidFill>
                  <a:srgbClr val="5B6D80"/>
                </a:solidFill>
                <a:latin typeface="Arial"/>
              </a:rPr>
              <a:t>Os documentos oficiais que regem o cálculo dos indicadores, ao longo da vigência do Previne Brasil.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3810000"/>
            <a:ext cx="11023600" cy="1676400"/>
          </a:xfrm>
          <a:prstGeom prst="rect">
            <a:avLst/>
          </a:prstGeom>
          <a:solidFill>
            <a:srgbClr val="FD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4200" y="3810000"/>
            <a:ext cx="63500" cy="1676400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3962400"/>
            <a:ext cx="10617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b="1" sz="1400">
                <a:solidFill>
                  <a:srgbClr val="16202B"/>
                </a:solidFill>
                <a:latin typeface="Arial"/>
              </a:rPr>
              <a:t>Um mesmo indicador pode ter dois valores: o publicado e o usado no cálculo do repasse.</a:t>
            </a:r>
            <a:r>
              <a:rPr b="0" sz="1400">
                <a:solidFill>
                  <a:srgbClr val="16202B"/>
                </a:solidFill>
                <a:latin typeface="Arial"/>
              </a:rPr>
              <a:t> A Portaria GM/MS nº 102/2022 determinou que, em indicadores e quadrimestres específicos, o alcance fosse considerado 100% </a:t>
            </a:r>
            <a:r>
              <a:rPr b="1" sz="1400">
                <a:solidFill>
                  <a:srgbClr val="16202B"/>
                </a:solidFill>
                <a:latin typeface="Arial"/>
              </a:rPr>
              <a:t>apenas para fins de financiamento</a:t>
            </a:r>
            <a:r>
              <a:rPr b="0" sz="1400">
                <a:solidFill>
                  <a:srgbClr val="16202B"/>
                </a:solidFill>
                <a:latin typeface="Arial"/>
              </a:rPr>
              <a:t>, enquanto o alcance medido era outro. Foi o caso da cobertura vacinal de Poliomielite e Pentavalente. A troca de Nota Técnica, por sua vez, atinge os 22 quadrimestres da série.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6350000"/>
            <a:ext cx="11023600" cy="9525"/>
          </a:xfrm>
          <a:prstGeom prst="rect">
            <a:avLst/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200" y="6426200"/>
            <a:ext cx="635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0" sz="1000">
                <a:solidFill>
                  <a:srgbClr val="8A9AA8"/>
                </a:solidFill>
                <a:latin typeface="Arial"/>
              </a:rPr>
              <a:t>Gasto x Desempenho na Atenção Primária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426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b="0" sz="1000">
                <a:solidFill>
                  <a:srgbClr val="8A9AA8"/>
                </a:solidFill>
                <a:latin typeface="Arial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508000"/>
            <a:ext cx="1016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100">
                <a:solidFill>
                  <a:srgbClr val="0F5C8C"/>
                </a:solidFill>
                <a:latin typeface="Arial"/>
              </a:rPr>
              <a:t>O QUE VAMOS PERGUNTAR À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736600"/>
            <a:ext cx="1117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2900">
                <a:solidFill>
                  <a:srgbClr val="16202B"/>
                </a:solidFill>
                <a:latin typeface="Arial"/>
              </a:rPr>
              <a:t>As operações previstas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4200" y="1346200"/>
            <a:ext cx="1219200" cy="50800"/>
          </a:xfrm>
          <a:prstGeom prst="rect">
            <a:avLst/>
          </a:prstGeom>
          <a:solidFill>
            <a:srgbClr val="0F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1625600"/>
            <a:ext cx="5346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400">
                <a:solidFill>
                  <a:srgbClr val="0F5C8C"/>
                </a:solidFill>
                <a:latin typeface="Arial"/>
              </a:rPr>
              <a:t>Básicas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981200"/>
            <a:ext cx="53467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b="0" sz="1350">
                <a:solidFill>
                  <a:srgbClr val="16202B"/>
                </a:solidFill>
                <a:latin typeface="Arial"/>
              </a:rPr>
              <a:t>Gasto per capita por município e por ano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b="0" sz="1350">
                <a:solidFill>
                  <a:srgbClr val="16202B"/>
                </a:solidFill>
                <a:latin typeface="Arial"/>
              </a:rPr>
              <a:t>Ranking de desempenho por indicador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b="0" sz="1350">
                <a:solidFill>
                  <a:srgbClr val="16202B"/>
                </a:solidFill>
                <a:latin typeface="Arial"/>
              </a:rPr>
              <a:t>Evolução quadrimestral de cada indicador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b="0" sz="1350">
                <a:solidFill>
                  <a:srgbClr val="16202B"/>
                </a:solidFill>
                <a:latin typeface="Arial"/>
              </a:rPr>
              <a:t>Composição do orçamento de saúde por subfunção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b="0" sz="1350">
                <a:solidFill>
                  <a:srgbClr val="16202B"/>
                </a:solidFill>
                <a:latin typeface="Arial"/>
              </a:rPr>
              <a:t>Cobertura e completude dos dados por 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1100" y="1625600"/>
            <a:ext cx="5346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400">
                <a:solidFill>
                  <a:srgbClr val="0F5C8C"/>
                </a:solidFill>
                <a:latin typeface="Arial"/>
              </a:rPr>
              <a:t>Avançadas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1100" y="1981200"/>
            <a:ext cx="53467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b="0" sz="1350">
                <a:solidFill>
                  <a:srgbClr val="16202B"/>
                </a:solidFill>
                <a:latin typeface="Arial"/>
              </a:rPr>
              <a:t>Faixas de gasto contra faixas de desempenho (NTILE)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b="0" sz="1350">
                <a:solidFill>
                  <a:srgbClr val="16202B"/>
                </a:solidFill>
                <a:latin typeface="Arial"/>
              </a:rPr>
              <a:t>Variação ano a ano com funções de janela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b="0" sz="1350">
                <a:solidFill>
                  <a:srgbClr val="16202B"/>
                </a:solidFill>
                <a:latin typeface="Arial"/>
              </a:rPr>
              <a:t>Comparação entre municípios de porte semelhante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b="0" sz="1350">
                <a:solidFill>
                  <a:srgbClr val="16202B"/>
                </a:solidFill>
                <a:latin typeface="Arial"/>
              </a:rPr>
              <a:t>Recálculo do indicador sob cada um dos três denominadores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b="0" sz="1350">
                <a:solidFill>
                  <a:srgbClr val="16202B"/>
                </a:solidFill>
                <a:latin typeface="Arial"/>
              </a:rPr>
              <a:t>Quanto da variação é serviço prestado e quanto é mudança de regra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6350000"/>
            <a:ext cx="11023600" cy="9525"/>
          </a:xfrm>
          <a:prstGeom prst="rect">
            <a:avLst/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4200" y="6426200"/>
            <a:ext cx="635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0" sz="1000">
                <a:solidFill>
                  <a:srgbClr val="8A9AA8"/>
                </a:solidFill>
                <a:latin typeface="Arial"/>
              </a:rPr>
              <a:t>Gasto x Desempenho na Atenção Primária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426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b="0" sz="1000">
                <a:solidFill>
                  <a:srgbClr val="8A9AA8"/>
                </a:solidFill>
                <a:latin typeface="Arial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508000"/>
            <a:ext cx="1016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100">
                <a:solidFill>
                  <a:srgbClr val="0F5C8C"/>
                </a:solidFill>
                <a:latin typeface="Arial"/>
              </a:rPr>
              <a:t>JUSTIFICATIVA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736600"/>
            <a:ext cx="1117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b="1" sz="2900">
                <a:solidFill>
                  <a:srgbClr val="16202B"/>
                </a:solidFill>
                <a:latin typeface="Arial"/>
              </a:rPr>
              <a:t>Por que o tema cabe na disciplina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84200" y="1346200"/>
            <a:ext cx="1219200" cy="50800"/>
          </a:xfrm>
          <a:prstGeom prst="rect">
            <a:avLst/>
          </a:prstGeom>
          <a:solidFill>
            <a:srgbClr val="0F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1727200"/>
            <a:ext cx="2692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1" sz="1350">
                <a:solidFill>
                  <a:srgbClr val="0F5C8C"/>
                </a:solidFill>
                <a:latin typeface="Arial"/>
              </a:rPr>
              <a:t>Chaves e granularidades incompatíveis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1400" y="1727200"/>
            <a:ext cx="8026400" cy="78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b="0" sz="1350">
                <a:solidFill>
                  <a:srgbClr val="16202B"/>
                </a:solidFill>
                <a:latin typeface="Arial"/>
              </a:rPr>
              <a:t>O código IBGE tem seis dígitos em duas fontes e sete na terceira; o gasto é anual e os indicadores são quadrimestrais; os formatos de arquivo diferem entre si. Sem tratamento prévio, a junção não retorna nenhuma linha.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743200"/>
            <a:ext cx="2692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1" sz="1350">
                <a:solidFill>
                  <a:srgbClr val="0F5C8C"/>
                </a:solidFill>
                <a:latin typeface="Arial"/>
              </a:rPr>
              <a:t>O indicador muda de definição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1400" y="2743200"/>
            <a:ext cx="80264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b="0" sz="1350">
                <a:solidFill>
                  <a:srgbClr val="16202B"/>
                </a:solidFill>
                <a:latin typeface="Arial"/>
              </a:rPr>
              <a:t>A regra de cálculo mudou em 2022 e há denominadores concorrentes por registro. A definição do indicador torna-se uma </a:t>
            </a:r>
            <a:r>
              <a:rPr b="1" sz="1350">
                <a:solidFill>
                  <a:srgbClr val="16202B"/>
                </a:solidFill>
                <a:latin typeface="Arial"/>
              </a:rPr>
              <a:t>dimensão versionada</a:t>
            </a:r>
            <a:r>
              <a:rPr b="0" sz="1350">
                <a:solidFill>
                  <a:srgbClr val="16202B"/>
                </a:solidFill>
                <a:latin typeface="Arial"/>
              </a:rPr>
              <a:t>, com vigência e nota técnica próprias.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530600"/>
            <a:ext cx="2692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1" sz="1350">
                <a:solidFill>
                  <a:srgbClr val="0F5C8C"/>
                </a:solidFill>
                <a:latin typeface="Arial"/>
              </a:rPr>
              <a:t>Volume, domínio e operações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1400" y="3530600"/>
            <a:ext cx="8026400" cy="78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b="0" sz="1350">
                <a:solidFill>
                  <a:srgbClr val="16202B"/>
                </a:solidFill>
                <a:latin typeface="Arial"/>
              </a:rPr>
              <a:t>Três bases oficiais e abertas sobre o gasto em saúde e o desempenho dos 497 municípios do Rio Grande do Sul, seguindo as normas de extensão estabelecidas pelo projeto PET-Saúde Digital. As consultas previstas empregam funções de janela, CTEs e agregação por faixa.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4200" y="6350000"/>
            <a:ext cx="11023600" cy="9525"/>
          </a:xfrm>
          <a:prstGeom prst="rect">
            <a:avLst/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4200" y="6426200"/>
            <a:ext cx="635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0" sz="1000">
                <a:solidFill>
                  <a:srgbClr val="8A9AA8"/>
                </a:solidFill>
                <a:latin typeface="Arial"/>
              </a:rPr>
              <a:t>Gasto x Desempenho na Atenção Primária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426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b="0" sz="1000">
                <a:solidFill>
                  <a:srgbClr val="8A9AA8"/>
                </a:solidFill>
                <a:latin typeface="Arial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